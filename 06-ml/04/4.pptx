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Medium" pitchFamily="2" charset="0"/>
      <p:regular r:id="rId17"/>
    </p:embeddedFont>
    <p:embeddedFont>
      <p:font typeface="Open Sans" panose="020B0606030504020204" pitchFamily="34" charset="0"/>
      <p:regular r:id="rId18"/>
      <p:bold r:id="rId19"/>
      <p: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430" y="9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95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420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Обработка ошибок и управление сложностью кода в MetaLanguage (ML)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19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Исключения, средства отладки, пространства имён, модули и экспорт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723361"/>
            <a:ext cx="13042821" cy="35957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50144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Авторы: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Буслама Анис, Тимур Фатахов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324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Группа: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5030102/20201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93B3BC-AC2A-731E-8F4D-8818FC03257A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20" y="587216"/>
            <a:ext cx="6215301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Исключения: объявление и генерация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9120" y="1435179"/>
            <a:ext cx="7921823" cy="3955256"/>
          </a:xfrm>
          <a:prstGeom prst="roundRect">
            <a:avLst>
              <a:gd name="adj" fmla="val 628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70905" y="1435179"/>
            <a:ext cx="7938254" cy="3955256"/>
          </a:xfrm>
          <a:prstGeom prst="roundRect">
            <a:avLst>
              <a:gd name="adj" fmla="val 628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736283" y="1559243"/>
            <a:ext cx="7607498" cy="370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</a:t>
            </a:r>
            <a:r>
              <a:rPr lang="en-US" sz="13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DivisionByZero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 safe_div (x : int, y : int) : int =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if y = 0 then raise </a:t>
            </a:r>
            <a:r>
              <a:rPr lang="en-US" sz="13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DivisionByZero</a:t>
            </a:r>
            <a:endParaRPr lang="en-US" sz="130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else x div y;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result1 = safe_div (10, 2);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result2 =  (safe_div (5, 0))  handle DivisionByZero =&gt; ~1;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  print ("Result1 = " ^ Int.toString result1 ^  "\n" ^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"Result2 = " ^ Int.toString result2 ^ "\n");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12185" y="1414463"/>
            <a:ext cx="2068473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Вывод программы: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12185" y="1859042"/>
            <a:ext cx="5146596" cy="77771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8" name="Shape 6"/>
          <p:cNvSpPr/>
          <p:nvPr/>
        </p:nvSpPr>
        <p:spPr>
          <a:xfrm>
            <a:off x="8903970" y="1859042"/>
            <a:ext cx="5163026" cy="77771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9069348" y="1983105"/>
            <a:ext cx="4832271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5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~1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9120" y="5762625"/>
            <a:ext cx="4380428" cy="1879759"/>
          </a:xfrm>
          <a:prstGeom prst="roundRect">
            <a:avLst>
              <a:gd name="adj" fmla="val 1321"/>
            </a:avLst>
          </a:prstGeom>
          <a:solidFill>
            <a:srgbClr val="3E3E3E"/>
          </a:solidFill>
          <a:ln/>
        </p:spPr>
      </p:sp>
      <p:sp>
        <p:nvSpPr>
          <p:cNvPr id="11" name="Shape 9"/>
          <p:cNvSpPr/>
          <p:nvPr/>
        </p:nvSpPr>
        <p:spPr>
          <a:xfrm>
            <a:off x="744498" y="5928003"/>
            <a:ext cx="496372" cy="496372"/>
          </a:xfrm>
          <a:prstGeom prst="roundRect">
            <a:avLst>
              <a:gd name="adj" fmla="val 18419825"/>
            </a:avLst>
          </a:prstGeom>
          <a:solidFill>
            <a:srgbClr val="F5F54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43" y="6064448"/>
            <a:ext cx="223361" cy="22336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4498" y="6589752"/>
            <a:ext cx="255722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Объявление исключения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4498" y="6947416"/>
            <a:ext cx="4049673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Исключение 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DivisionByZero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создаётся для обработки деления на ноль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124926" y="5762625"/>
            <a:ext cx="4380428" cy="1879759"/>
          </a:xfrm>
          <a:prstGeom prst="roundRect">
            <a:avLst>
              <a:gd name="adj" fmla="val 1321"/>
            </a:avLst>
          </a:prstGeom>
          <a:solidFill>
            <a:srgbClr val="3E3E3E"/>
          </a:solidFill>
          <a:ln/>
        </p:spPr>
      </p:sp>
      <p:sp>
        <p:nvSpPr>
          <p:cNvPr id="16" name="Shape 13"/>
          <p:cNvSpPr/>
          <p:nvPr/>
        </p:nvSpPr>
        <p:spPr>
          <a:xfrm>
            <a:off x="5290304" y="5928003"/>
            <a:ext cx="496372" cy="496372"/>
          </a:xfrm>
          <a:prstGeom prst="roundRect">
            <a:avLst>
              <a:gd name="adj" fmla="val 18419825"/>
            </a:avLst>
          </a:prstGeom>
          <a:solidFill>
            <a:srgbClr val="F5F547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750" y="6064448"/>
            <a:ext cx="223361" cy="2233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90304" y="6589752"/>
            <a:ext cx="2372678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Генерация исключения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290304" y="6947416"/>
            <a:ext cx="4049673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Оператор 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прерывает выполнение функции при нарушении условия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670733" y="5762625"/>
            <a:ext cx="4380428" cy="1879759"/>
          </a:xfrm>
          <a:prstGeom prst="roundRect">
            <a:avLst>
              <a:gd name="adj" fmla="val 1321"/>
            </a:avLst>
          </a:prstGeom>
          <a:solidFill>
            <a:srgbClr val="3E3E3E"/>
          </a:solidFill>
          <a:ln/>
        </p:spPr>
      </p:sp>
      <p:sp>
        <p:nvSpPr>
          <p:cNvPr id="21" name="Shape 17"/>
          <p:cNvSpPr/>
          <p:nvPr/>
        </p:nvSpPr>
        <p:spPr>
          <a:xfrm>
            <a:off x="9836110" y="5928003"/>
            <a:ext cx="496372" cy="496372"/>
          </a:xfrm>
          <a:prstGeom prst="roundRect">
            <a:avLst>
              <a:gd name="adj" fmla="val 18419825"/>
            </a:avLst>
          </a:prstGeom>
          <a:solidFill>
            <a:srgbClr val="F5F547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72556" y="6064448"/>
            <a:ext cx="223361" cy="22336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36110" y="6589752"/>
            <a:ext cx="2264450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Безопасная обработка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836110" y="6947416"/>
            <a:ext cx="4049673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Конструкция 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handle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перехватывает исключение и возвращает безопасное значение</a:t>
            </a:r>
            <a:endParaRPr lang="en-US" sz="13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A669405-647D-8E7E-0E30-469D7B0064BF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4361" y="477560"/>
            <a:ext cx="7953018" cy="43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Несколько исключений и ветвление обработки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4361" y="1254562"/>
            <a:ext cx="13421678" cy="4402217"/>
          </a:xfrm>
          <a:prstGeom prst="roundRect">
            <a:avLst>
              <a:gd name="adj" fmla="val 588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95789" y="1254562"/>
            <a:ext cx="13438823" cy="4402217"/>
          </a:xfrm>
          <a:prstGeom prst="roundRect">
            <a:avLst>
              <a:gd name="adj" fmla="val 588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768429" y="1383983"/>
            <a:ext cx="13093541" cy="414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</a:t>
            </a:r>
            <a:r>
              <a:rPr lang="en-US" sz="13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NegativeInput</a:t>
            </a: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</a:t>
            </a:r>
            <a:r>
              <a:rPr lang="en-US" sz="13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DivisionByZero</a:t>
            </a: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 compute (x : int, y : int) =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if x &lt; 0 then raise </a:t>
            </a:r>
            <a:r>
              <a:rPr lang="en-US" sz="13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NegativeInput</a:t>
            </a:r>
            <a:endParaRPr lang="en-US" sz="13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y = 0 then raise </a:t>
            </a:r>
            <a:r>
              <a:rPr lang="en-US" sz="13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DivisionByZero</a:t>
            </a:r>
            <a:endParaRPr lang="en-US" sz="13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else x div y;</a:t>
            </a:r>
          </a:p>
          <a:p>
            <a:pPr marL="0" indent="0" algn="l">
              <a:lnSpc>
                <a:spcPts val="2150"/>
              </a:lnSpc>
              <a:buNone/>
            </a:pPr>
            <a:endParaRPr lang="en-US" sz="13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r1 = (compute (10, 2)) handle _ =&gt; 0;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r2 = (compute (~5, 1))   handle NegativeInput =&gt; 999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 DivisionByZero =&gt; ~1;</a:t>
            </a:r>
          </a:p>
          <a:p>
            <a:pPr marL="0" indent="0" algn="l">
              <a:lnSpc>
                <a:spcPts val="2150"/>
              </a:lnSpc>
              <a:buNone/>
            </a:pPr>
            <a:endParaRPr lang="en-US" sz="13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 print ("r1 = " ^ Int.toString r1 ^ "\n" ^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"r2 = " ^ Int.toString r2 ^ "\n");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4361" y="6023610"/>
            <a:ext cx="2464118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Результат выполнения: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04361" y="6487597"/>
            <a:ext cx="6500217" cy="811292"/>
          </a:xfrm>
          <a:prstGeom prst="roundRect">
            <a:avLst>
              <a:gd name="adj" fmla="val 3193"/>
            </a:avLst>
          </a:prstGeom>
          <a:solidFill>
            <a:srgbClr val="2C2C2C"/>
          </a:solidFill>
          <a:ln/>
        </p:spPr>
      </p:sp>
      <p:sp>
        <p:nvSpPr>
          <p:cNvPr id="8" name="Shape 6"/>
          <p:cNvSpPr/>
          <p:nvPr/>
        </p:nvSpPr>
        <p:spPr>
          <a:xfrm>
            <a:off x="595789" y="6487597"/>
            <a:ext cx="6517362" cy="811292"/>
          </a:xfrm>
          <a:prstGeom prst="roundRect">
            <a:avLst>
              <a:gd name="adj" fmla="val 3193"/>
            </a:avLst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768429" y="6617018"/>
            <a:ext cx="617208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r1 = 5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r2 = 999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33442" y="6023610"/>
            <a:ext cx="2553653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особенности: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33442" y="6466046"/>
            <a:ext cx="65002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поддерживает объявление множественных исключений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33442" y="6802636"/>
            <a:ext cx="650021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Конструкция </a:t>
            </a: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handle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может содержать несколько ветвей с разными обработчиками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33442" y="7415451"/>
            <a:ext cx="65002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Паттерн </a:t>
            </a:r>
            <a:r>
              <a:rPr lang="en-US" sz="13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 =&gt; 0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обрабатывает любое неизвестное исключение</a:t>
            </a:r>
            <a:endParaRPr lang="en-US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BD23AF-5011-C5AB-9ED5-DBD6CE12B96A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547" y="444579"/>
            <a:ext cx="6623923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 корректности с помощью assert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5547" y="1171694"/>
            <a:ext cx="13499306" cy="4636413"/>
          </a:xfrm>
          <a:prstGeom prst="roundRect">
            <a:avLst>
              <a:gd name="adj" fmla="val 523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57570" y="1171694"/>
            <a:ext cx="13515261" cy="4636413"/>
          </a:xfrm>
          <a:prstGeom prst="roundRect">
            <a:avLst>
              <a:gd name="adj" fmla="val 523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719137" y="1292781"/>
            <a:ext cx="13192125" cy="439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 assert cond msg =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if cond then ()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raise Fail msg;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 sqrt_safe (n : int) : real =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(assert (n &gt;= 0) "Negative input for sqrt";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Math.sqrt (Real.fromInt n));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good = sqrt_safe 9;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bad =  (sqrt_safe ~1)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 Fail msg =&gt;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(print ("Assertion failed: " ^ msg ^ "\n"); ~1.0);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2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("good = " ^ Real.toString good ^ "\n" ^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"bad = " ^ Real.toString bad ^ "\n");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5547" y="6151364"/>
            <a:ext cx="2020014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Вывод: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5547" y="6585585"/>
            <a:ext cx="5163264" cy="1017627"/>
          </a:xfrm>
          <a:prstGeom prst="roundRect">
            <a:avLst>
              <a:gd name="adj" fmla="val 2382"/>
            </a:avLst>
          </a:prstGeom>
          <a:solidFill>
            <a:srgbClr val="2C2C2C"/>
          </a:solidFill>
          <a:ln/>
        </p:spPr>
      </p:sp>
      <p:sp>
        <p:nvSpPr>
          <p:cNvPr id="8" name="Shape 6"/>
          <p:cNvSpPr/>
          <p:nvPr/>
        </p:nvSpPr>
        <p:spPr>
          <a:xfrm>
            <a:off x="557570" y="6585585"/>
            <a:ext cx="5179219" cy="1017627"/>
          </a:xfrm>
          <a:prstGeom prst="roundRect">
            <a:avLst>
              <a:gd name="adj" fmla="val 2382"/>
            </a:avLst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719137" y="6706672"/>
            <a:ext cx="4856083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 failed: Negative input for sqrt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good = 3.0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bad = ~1.0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30528" y="6135172"/>
            <a:ext cx="7941945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Собственная реализация 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выбрасывает исключение 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если условие не выполнено. Это позволяет проверять </a:t>
            </a:r>
            <a:r>
              <a:rPr lang="en-US" sz="12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инварианты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2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предусловия функций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без аварийного завершения программы.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30528" y="7056001"/>
            <a:ext cx="7941945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Такой подход является базовым инструментом отладки и тестирования корректности функций в функциональном программировании.</a:t>
            </a:r>
            <a:endParaRPr lang="en-US" sz="12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F743D6D-DEDE-9215-E7CB-A6E9B7F03518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733" y="570786"/>
            <a:ext cx="7060287" cy="517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Пространства имён через structure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24733" y="1502450"/>
            <a:ext cx="13180933" cy="3622834"/>
          </a:xfrm>
          <a:prstGeom prst="roundRect">
            <a:avLst>
              <a:gd name="adj" fmla="val 857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714494" y="1502450"/>
            <a:ext cx="13201412" cy="3622834"/>
          </a:xfrm>
          <a:prstGeom prst="roundRect">
            <a:avLst>
              <a:gd name="adj" fmla="val 857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921544" y="1657707"/>
            <a:ext cx="12787313" cy="3312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 MathUtils = struct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square x = x * x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cube x = x * x * x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average (a, b) = (a + b) div 2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</a:p>
          <a:p>
            <a:pPr marL="0" indent="0" algn="l">
              <a:lnSpc>
                <a:spcPts val="2600"/>
              </a:lnSpc>
              <a:buNone/>
            </a:pPr>
            <a:endParaRPr lang="en-US" sz="160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  print ("square(4) = " ^ Int.toString (MathUtils.square 4) ^ "\n" ^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"cube(3) = " ^ Int.toString (MathUtils.cube 3) ^ "\n" ^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"average(2, 8) = " ^ Int.toString (MathUtils.average (2, 8)) ^ "\n");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4733" y="5565219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Результат: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4733" y="6121598"/>
            <a:ext cx="3600688" cy="1304211"/>
          </a:xfrm>
          <a:prstGeom prst="roundRect">
            <a:avLst>
              <a:gd name="adj" fmla="val 2382"/>
            </a:avLst>
          </a:prstGeom>
          <a:solidFill>
            <a:srgbClr val="2C2C2C"/>
          </a:solidFill>
          <a:ln/>
        </p:spPr>
      </p:sp>
      <p:sp>
        <p:nvSpPr>
          <p:cNvPr id="8" name="Shape 6"/>
          <p:cNvSpPr/>
          <p:nvPr/>
        </p:nvSpPr>
        <p:spPr>
          <a:xfrm>
            <a:off x="714494" y="6121598"/>
            <a:ext cx="3621167" cy="1304211"/>
          </a:xfrm>
          <a:prstGeom prst="roundRect">
            <a:avLst>
              <a:gd name="adj" fmla="val 2382"/>
            </a:avLst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921544" y="6276856"/>
            <a:ext cx="3207068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square(4) = 16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cube(3) = 27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average(2, 8) = 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38105" y="5544503"/>
            <a:ext cx="9075063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создаёт изолированное пространство имён — отдельный модуль с собственными функциями. Все определения внутри </a:t>
            </a: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... end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сгруппированы и доступны через префикс модуля.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38105" y="6724531"/>
            <a:ext cx="9075063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Обращение через </a:t>
            </a:r>
            <a:r>
              <a:rPr lang="en-US" sz="1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MathUtils.square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предотвращает конфликты имён и помогает структурировать большие проекты, разделяя логику по модулям.</a:t>
            </a:r>
            <a:endParaRPr lang="en-US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F3BB678-A121-6089-8E77-E4A84F89EE3D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3050" y="467678"/>
            <a:ext cx="5855375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Сигнатуры и ограничение экспорта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593050" y="1230154"/>
            <a:ext cx="13444299" cy="3505914"/>
          </a:xfrm>
          <a:prstGeom prst="roundRect">
            <a:avLst>
              <a:gd name="adj" fmla="val 725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84597" y="1230154"/>
            <a:ext cx="13461206" cy="3505914"/>
          </a:xfrm>
          <a:prstGeom prst="roundRect">
            <a:avLst>
              <a:gd name="adj" fmla="val 725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754023" y="1357193"/>
            <a:ext cx="13122354" cy="3251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MATH_UTILS = sig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val square : int -&gt; int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val cube : int -&gt; intend;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 MathUtils : MATH_UTILS = struct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square x = x*x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cube x = x*x*x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secret y = y + 42  (* не экспортируется! *)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 print ("cube(2) = " ^ Int.toString (MathUtils.cube 2) ^ "\n");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3050" y="4926687"/>
            <a:ext cx="13444299" cy="719733"/>
          </a:xfrm>
          <a:prstGeom prst="roundRect">
            <a:avLst>
              <a:gd name="adj" fmla="val 3532"/>
            </a:avLst>
          </a:prstGeom>
          <a:solidFill>
            <a:srgbClr val="49490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76" y="5188148"/>
            <a:ext cx="211812" cy="1694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714" y="5138380"/>
            <a:ext cx="12724209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Вывод программы:</a:t>
            </a: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cube(2) = 8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50" y="5837039"/>
            <a:ext cx="4481393" cy="6778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2476" y="6684288"/>
            <a:ext cx="269450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Определение интерфейса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2476" y="7050524"/>
            <a:ext cx="4142542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Signature описывает, какие функции будут доступны извне модуля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444" y="5837039"/>
            <a:ext cx="4481393" cy="6778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43870" y="6684288"/>
            <a:ext cx="2118241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Инкапсуляция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5243870" y="7050524"/>
            <a:ext cx="4142542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Всё, что не описано в сигнатуре (например, </a:t>
            </a: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), остаётся скрытым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837" y="5837039"/>
            <a:ext cx="4481393" cy="6778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25263" y="6684288"/>
            <a:ext cx="2118241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Безопасность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9725263" y="7050524"/>
            <a:ext cx="4142542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Предотвращает случайное использование внутренних деталей реализации</a:t>
            </a:r>
            <a:endParaRPr lang="en-US" sz="13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6EBE21-99AA-FC16-9BC2-088A802873C6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326" y="404098"/>
            <a:ext cx="4550569" cy="36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Функторы (модули-параметры)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12326" y="1062633"/>
            <a:ext cx="13605748" cy="5135166"/>
          </a:xfrm>
          <a:prstGeom prst="roundRect">
            <a:avLst>
              <a:gd name="adj" fmla="val 428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05063" y="1062633"/>
            <a:ext cx="13620274" cy="5135166"/>
          </a:xfrm>
          <a:prstGeom prst="roundRect">
            <a:avLst>
              <a:gd name="adj" fmla="val 428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651391" y="1172408"/>
            <a:ext cx="13327618" cy="491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MATH_UTILS = sig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val square : int -&gt; int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val cube : int -&gt; int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 BasicMath : MATH_UTILS = struct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square x = x*x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cube x = x*x*x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functor MakeStats (M : MATH_UTILS) = struct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mean (a, b) = (a + b) div 2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variance (a, b) =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M.square (a - mean(a, b))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 Stats = MakeStats(</a:t>
            </a:r>
            <a:r>
              <a:rPr lang="en-US" sz="11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BasicMath</a:t>
            </a: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11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("mean(10, 20) = " ^ Int.toString (Stats.mean (10, 20)) ^  "\n" ^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"variance(10, 20) = " ^ Int.toString (Stats.variance (10, 20)) ^ "\n");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2326" y="6508790"/>
            <a:ext cx="182963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Результат: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326" y="6902172"/>
            <a:ext cx="4529971" cy="687705"/>
          </a:xfrm>
          <a:prstGeom prst="roundRect">
            <a:avLst>
              <a:gd name="adj" fmla="val 3193"/>
            </a:avLst>
          </a:prstGeom>
          <a:solidFill>
            <a:srgbClr val="2C2C2C"/>
          </a:solidFill>
          <a:ln/>
        </p:spPr>
      </p:sp>
      <p:sp>
        <p:nvSpPr>
          <p:cNvPr id="8" name="Shape 6"/>
          <p:cNvSpPr/>
          <p:nvPr/>
        </p:nvSpPr>
        <p:spPr>
          <a:xfrm>
            <a:off x="505063" y="6902172"/>
            <a:ext cx="4544497" cy="687705"/>
          </a:xfrm>
          <a:prstGeom prst="roundRect">
            <a:avLst>
              <a:gd name="adj" fmla="val 3193"/>
            </a:avLst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651391" y="7011948"/>
            <a:ext cx="4251841" cy="46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mean(10, 20) = 15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variance(10, 20) = 25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06866" y="6494145"/>
            <a:ext cx="8718709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5F547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Функторы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это </a:t>
            </a:r>
            <a:r>
              <a:rPr lang="en-US" sz="11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модули высшего порядка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которые принимают другие модули как параметры.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06866" y="6859905"/>
            <a:ext cx="8718709" cy="46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MakeStats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может работать с любым модулем, соответствующим сигнатуре </a:t>
            </a: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MATH_UTILS</a:t>
            </a: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Это позволяет легко менять реализацию библиотеки без переписывания кода.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06866" y="7459742"/>
            <a:ext cx="8718709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Аналог шаблонов (templates) в C++ или generic-пакетов в Java.</a:t>
            </a:r>
            <a:endParaRPr lang="en-US" sz="11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61CAA98-C8CC-890B-49F3-69DD9CC088AE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014" y="537686"/>
            <a:ext cx="4706183" cy="488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Импорт (open) и экспорт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84014" y="1319332"/>
            <a:ext cx="13262372" cy="4043601"/>
          </a:xfrm>
          <a:prstGeom prst="roundRect">
            <a:avLst>
              <a:gd name="adj" fmla="val 725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674251" y="1319332"/>
            <a:ext cx="13281898" cy="4043601"/>
          </a:xfrm>
          <a:prstGeom prst="roundRect">
            <a:avLst>
              <a:gd name="adj" fmla="val 725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869633" y="1465898"/>
            <a:ext cx="12891135" cy="37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 MathUtils = struct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square x = x * x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fun cube x = x * x * x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 </a:t>
            </a:r>
            <a:r>
              <a:rPr lang="en-US" sz="15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MathUtils</a:t>
            </a: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 = square 5;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 = cube 2;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 print ("square(5) = " ^ Int.toString s ^ "\n" ^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"cube(2) = " ^ Int.toString c ^ "\n");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4014" y="5582722"/>
            <a:ext cx="4290536" cy="2109192"/>
          </a:xfrm>
          <a:prstGeom prst="roundRect">
            <a:avLst>
              <a:gd name="adj" fmla="val 139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256" y="5800963"/>
            <a:ext cx="244292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Вывод программы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02256" y="6326148"/>
            <a:ext cx="3854053" cy="918210"/>
          </a:xfrm>
          <a:prstGeom prst="roundRect">
            <a:avLst>
              <a:gd name="adj" fmla="val 3193"/>
            </a:avLst>
          </a:prstGeom>
          <a:solidFill>
            <a:srgbClr val="2C2C2C"/>
          </a:solidFill>
          <a:ln/>
        </p:spPr>
      </p:sp>
      <p:sp>
        <p:nvSpPr>
          <p:cNvPr id="9" name="Shape 7"/>
          <p:cNvSpPr/>
          <p:nvPr/>
        </p:nvSpPr>
        <p:spPr>
          <a:xfrm>
            <a:off x="892493" y="6326148"/>
            <a:ext cx="3873579" cy="918210"/>
          </a:xfrm>
          <a:prstGeom prst="roundRect">
            <a:avLst>
              <a:gd name="adj" fmla="val 3193"/>
            </a:avLst>
          </a:prstGeom>
          <a:solidFill>
            <a:srgbClr val="2C2C2C"/>
          </a:solidFill>
          <a:ln/>
        </p:spPr>
      </p:sp>
      <p:sp>
        <p:nvSpPr>
          <p:cNvPr id="10" name="Text 8"/>
          <p:cNvSpPr/>
          <p:nvPr/>
        </p:nvSpPr>
        <p:spPr>
          <a:xfrm>
            <a:off x="1087874" y="6472714"/>
            <a:ext cx="3482816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square(5) = 25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cube(2) = 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69932" y="5582722"/>
            <a:ext cx="4290536" cy="2109192"/>
          </a:xfrm>
          <a:prstGeom prst="roundRect">
            <a:avLst>
              <a:gd name="adj" fmla="val 139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8173" y="5800963"/>
            <a:ext cx="244292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Директива open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388173" y="6223516"/>
            <a:ext cx="3854053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Делает все функции модуля доступными напрямую, без префикса </a:t>
            </a:r>
            <a:r>
              <a:rPr lang="en-US" sz="15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MathUtils.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55850" y="5582722"/>
            <a:ext cx="4290536" cy="2109192"/>
          </a:xfrm>
          <a:prstGeom prst="roundRect">
            <a:avLst>
              <a:gd name="adj" fmla="val 139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4091" y="5800963"/>
            <a:ext cx="2442924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Рекомендации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874091" y="6223516"/>
            <a:ext cx="3854053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Удобно для коротких программ и REPL. В крупных проектах предпочтительнее явное обращение через ModuleName.func</a:t>
            </a:r>
            <a:endParaRPr lang="en-US" sz="15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FF184ED-F56E-7918-617F-B355A6FAC1E1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928" y="446246"/>
            <a:ext cx="4590336" cy="40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Исключения внутри модулей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67928" y="1176337"/>
            <a:ext cx="13494544" cy="4396264"/>
          </a:xfrm>
          <a:prstGeom prst="roundRect">
            <a:avLst>
              <a:gd name="adj" fmla="val 554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59832" y="1176337"/>
            <a:ext cx="13510736" cy="4396264"/>
          </a:xfrm>
          <a:prstGeom prst="roundRect">
            <a:avLst>
              <a:gd name="adj" fmla="val 554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721995" y="1298019"/>
            <a:ext cx="13186410" cy="415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 SafeMath = struct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exception </a:t>
            </a: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DivisionByZero</a:t>
            </a:r>
            <a:endParaRPr lang="en-US" sz="12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endParaRPr lang="en-US" sz="12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div (x, y) =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y = 0 then raise </a:t>
            </a: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DivisionByZero</a:t>
            </a:r>
            <a:endParaRPr lang="en-US" sz="1250" dirty="0">
              <a:solidFill>
                <a:srgbClr val="BFBFBF"/>
              </a:solidFill>
              <a:highlight>
                <a:srgbClr val="2C2C2C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x div </a:t>
            </a: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yend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res1 = SafeMath.div (10, 2)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res2 =  (SafeMath.div (5, 0))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 SafeMath.DivisionByZero =&gt; ~1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("res1 = " ^ Int.toString res1 ^ "\n" ^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"res2 = " ^ Int.toString res2 ^ "\n");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7928" y="5937647"/>
            <a:ext cx="6549390" cy="1664851"/>
          </a:xfrm>
          <a:prstGeom prst="roundRect">
            <a:avLst>
              <a:gd name="adj" fmla="val 1462"/>
            </a:avLst>
          </a:prstGeom>
          <a:solidFill>
            <a:srgbClr val="49490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1" y="6160889"/>
            <a:ext cx="253484" cy="2027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5738" y="6140291"/>
            <a:ext cx="231588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Результат выполнения: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45738" y="6576417"/>
            <a:ext cx="5809417" cy="76247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0" name="Shape 7"/>
          <p:cNvSpPr/>
          <p:nvPr/>
        </p:nvSpPr>
        <p:spPr>
          <a:xfrm>
            <a:off x="1137642" y="6576417"/>
            <a:ext cx="5825609" cy="76247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1" name="Text 8"/>
          <p:cNvSpPr/>
          <p:nvPr/>
        </p:nvSpPr>
        <p:spPr>
          <a:xfrm>
            <a:off x="1299805" y="6698099"/>
            <a:ext cx="5501283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res1 = 5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res2 = ~1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20702" y="5901095"/>
            <a:ext cx="6549390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Исключения можно объявлять </a:t>
            </a:r>
            <a:r>
              <a:rPr lang="en-US" sz="1250" b="1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внутри модуля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что ограничивает область их видимости. Имя исключения становится частью пространства имён: </a:t>
            </a: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SafeMath.DivisionByZero</a:t>
            </a: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20702" y="6825734"/>
            <a:ext cx="6549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предотвращает конфликты имён и делает структуру программы более понятной и организованной.</a:t>
            </a:r>
            <a:endParaRPr lang="en-US" sz="12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1F22EA5-40C9-DC22-B193-675EAF8E59E0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659" y="553998"/>
            <a:ext cx="5026819" cy="628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Итоги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3659" y="1584365"/>
            <a:ext cx="4273629" cy="2284214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4" name="Shape 2"/>
          <p:cNvSpPr/>
          <p:nvPr/>
        </p:nvSpPr>
        <p:spPr>
          <a:xfrm>
            <a:off x="904637" y="1785342"/>
            <a:ext cx="603171" cy="603171"/>
          </a:xfrm>
          <a:prstGeom prst="roundRect">
            <a:avLst>
              <a:gd name="adj" fmla="val 15158364"/>
            </a:avLst>
          </a:prstGeom>
          <a:solidFill>
            <a:srgbClr val="F5F5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491" y="1951196"/>
            <a:ext cx="271343" cy="27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4637" y="2589490"/>
            <a:ext cx="251340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Исключения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04637" y="3024188"/>
            <a:ext cx="3871674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Безопасная реакция на ошибки с помощью </a:t>
            </a: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handle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178266" y="1584365"/>
            <a:ext cx="4273748" cy="2284214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9" name="Shape 6"/>
          <p:cNvSpPr/>
          <p:nvPr/>
        </p:nvSpPr>
        <p:spPr>
          <a:xfrm>
            <a:off x="5379244" y="1785342"/>
            <a:ext cx="603171" cy="603171"/>
          </a:xfrm>
          <a:prstGeom prst="roundRect">
            <a:avLst>
              <a:gd name="adj" fmla="val 15158364"/>
            </a:avLst>
          </a:prstGeom>
          <a:solidFill>
            <a:srgbClr val="F5F5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5098" y="1951196"/>
            <a:ext cx="271343" cy="27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9244" y="2589490"/>
            <a:ext cx="251340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Assert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379244" y="3024188"/>
            <a:ext cx="3871793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условий и инвариантов функций для отладки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52992" y="1584365"/>
            <a:ext cx="4273748" cy="2284214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53970" y="1785342"/>
            <a:ext cx="603171" cy="603171"/>
          </a:xfrm>
          <a:prstGeom prst="roundRect">
            <a:avLst>
              <a:gd name="adj" fmla="val 15158364"/>
            </a:avLst>
          </a:prstGeom>
          <a:solidFill>
            <a:srgbClr val="F5F5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9824" y="1951196"/>
            <a:ext cx="271343" cy="27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53970" y="2589490"/>
            <a:ext cx="251340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Модули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53970" y="3024188"/>
            <a:ext cx="3871793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создаёт изолированные пространства имён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03659" y="4069556"/>
            <a:ext cx="6511052" cy="2284214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19" name="Shape 14"/>
          <p:cNvSpPr/>
          <p:nvPr/>
        </p:nvSpPr>
        <p:spPr>
          <a:xfrm>
            <a:off x="904637" y="4270534"/>
            <a:ext cx="603171" cy="603171"/>
          </a:xfrm>
          <a:prstGeom prst="roundRect">
            <a:avLst>
              <a:gd name="adj" fmla="val 15158364"/>
            </a:avLst>
          </a:prstGeom>
          <a:solidFill>
            <a:srgbClr val="F5F5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0491" y="4436388"/>
            <a:ext cx="271343" cy="271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4637" y="5074682"/>
            <a:ext cx="251340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Сигнатуры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904637" y="5509379"/>
            <a:ext cx="6109097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Определение интерфейсов и инкапсуляция деталей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7415689" y="4069556"/>
            <a:ext cx="6511052" cy="2284214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24" name="Shape 18"/>
          <p:cNvSpPr/>
          <p:nvPr/>
        </p:nvSpPr>
        <p:spPr>
          <a:xfrm>
            <a:off x="7616666" y="4270534"/>
            <a:ext cx="603171" cy="603171"/>
          </a:xfrm>
          <a:prstGeom prst="roundRect">
            <a:avLst>
              <a:gd name="adj" fmla="val 15158364"/>
            </a:avLst>
          </a:prstGeom>
          <a:solidFill>
            <a:srgbClr val="F5F54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82520" y="4436388"/>
            <a:ext cx="271343" cy="27134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16666" y="5074682"/>
            <a:ext cx="2513409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Функторы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7616666" y="5509379"/>
            <a:ext cx="6109097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Модули высшего порядка для гибкого и переиспользуемого кода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005245" y="6805970"/>
            <a:ext cx="12921496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предоставляет мощные инструменты для создания надёжного, модульного и легко поддерживаемого кода в функциональной парадигме программирования.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703659" y="6579870"/>
            <a:ext cx="22860" cy="1095613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B96C105-8B98-89AA-C331-FC0DE9580D3F}"/>
              </a:ext>
            </a:extLst>
          </p:cNvPr>
          <p:cNvSpPr/>
          <p:nvPr/>
        </p:nvSpPr>
        <p:spPr>
          <a:xfrm>
            <a:off x="12745844" y="7694341"/>
            <a:ext cx="1773044" cy="463345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1400</Words>
  <Application>Microsoft Office PowerPoint</Application>
  <PresentationFormat>Произвольный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Instrument Sans Medium</vt:lpstr>
      <vt:lpstr>Open Sans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Буслама Анис</cp:lastModifiedBy>
  <cp:revision>13</cp:revision>
  <dcterms:created xsi:type="dcterms:W3CDTF">2025-11-06T21:03:04Z</dcterms:created>
  <dcterms:modified xsi:type="dcterms:W3CDTF">2025-11-06T21:12:44Z</dcterms:modified>
</cp:coreProperties>
</file>